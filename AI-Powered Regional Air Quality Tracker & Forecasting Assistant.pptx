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4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1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4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4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85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35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6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15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41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00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4593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99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1898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95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07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0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ABFD4-F372-4D41-9EC0-DD02FAD3500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0A5B735-586E-49BD-BD78-343DED682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5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mbientncr-mlproject.streamlit.app/" TargetMode="External"/><Relationship Id="rId2" Type="http://schemas.openxmlformats.org/officeDocument/2006/relationships/hyperlink" Target="https://github.com/CoderforLife-AK/Ambient_Ncr.git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0D38D7-5AC7-3CA2-4B11-7BCF79DD6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AI-Powered Regional Air Quality Tracker &amp; Forecasting Assistant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7F603A-905A-89A3-794B-E88CFF55B222}"/>
              </a:ext>
            </a:extLst>
          </p:cNvPr>
          <p:cNvSpPr txBox="1"/>
          <p:nvPr/>
        </p:nvSpPr>
        <p:spPr>
          <a:xfrm>
            <a:off x="677334" y="2892925"/>
            <a:ext cx="87777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/>
                </a:solidFill>
              </a:rPr>
              <a:t>Name – </a:t>
            </a:r>
            <a:r>
              <a:rPr lang="en-IN" sz="2800" dirty="0"/>
              <a:t>Aman </a:t>
            </a:r>
            <a:r>
              <a:rPr lang="en-IN" sz="2800" dirty="0" err="1"/>
              <a:t>kumar</a:t>
            </a:r>
            <a:endParaRPr lang="en-IN" sz="2800" dirty="0">
              <a:solidFill>
                <a:schemeClr val="accent1"/>
              </a:solidFill>
            </a:endParaRPr>
          </a:p>
          <a:p>
            <a:r>
              <a:rPr lang="en-IN" sz="2800" dirty="0">
                <a:solidFill>
                  <a:schemeClr val="accent1"/>
                </a:solidFill>
              </a:rPr>
              <a:t>College name – </a:t>
            </a:r>
            <a:r>
              <a:rPr lang="en-IN" sz="2800" dirty="0" err="1"/>
              <a:t>Mangalmay</a:t>
            </a:r>
            <a:r>
              <a:rPr lang="en-IN" sz="2800" dirty="0"/>
              <a:t> institute of Management and technology</a:t>
            </a:r>
          </a:p>
          <a:p>
            <a:r>
              <a:rPr lang="en-IN" sz="2800" dirty="0">
                <a:solidFill>
                  <a:schemeClr val="accent1"/>
                </a:solidFill>
              </a:rPr>
              <a:t>AICTE Student Id – </a:t>
            </a:r>
            <a:r>
              <a:rPr lang="en-US" dirty="0"/>
              <a:t>STU68b1a15bcf2731756471643</a:t>
            </a:r>
            <a:endParaRPr lang="en-IN" sz="2800" dirty="0">
              <a:solidFill>
                <a:schemeClr val="accent1"/>
              </a:solidFill>
            </a:endParaRPr>
          </a:p>
          <a:p>
            <a:r>
              <a:rPr lang="en-IN" sz="2800" dirty="0">
                <a:solidFill>
                  <a:schemeClr val="accent1"/>
                </a:solidFill>
              </a:rPr>
              <a:t>Email id – </a:t>
            </a:r>
            <a:r>
              <a:rPr lang="en-IN" sz="2800" dirty="0"/>
              <a:t>thefirstians1@gmail.com</a:t>
            </a:r>
            <a:endParaRPr lang="en-IN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925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CCF7-9763-A506-50C7-D08DF072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SDG Alignment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86F7D2-2165-ED08-8E09-86F577DCAD83}"/>
              </a:ext>
            </a:extLst>
          </p:cNvPr>
          <p:cNvSpPr txBox="1"/>
          <p:nvPr/>
        </p:nvSpPr>
        <p:spPr>
          <a:xfrm>
            <a:off x="652320" y="1584157"/>
            <a:ext cx="864669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UN Sustainable Development Goal 11: </a:t>
            </a:r>
            <a:r>
              <a:rPr lang="en-US" sz="2400" b="1" dirty="0"/>
              <a:t>Sustainable Cities &amp; Communities</a:t>
            </a:r>
          </a:p>
          <a:p>
            <a:endParaRPr lang="en-US" sz="2400" b="1" dirty="0"/>
          </a:p>
          <a:p>
            <a:r>
              <a:rPr lang="en-US" sz="2000" b="1" dirty="0">
                <a:solidFill>
                  <a:schemeClr val="accent1"/>
                </a:solidFill>
              </a:rPr>
              <a:t>Target 11.6: </a:t>
            </a:r>
            <a:r>
              <a:rPr lang="en-US" sz="2000" b="1" dirty="0"/>
              <a:t>Reduction of Urban Environmental Impact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chemeClr val="accent1"/>
                </a:solidFill>
              </a:rPr>
              <a:t>SDG Target 11.6: </a:t>
            </a:r>
            <a:r>
              <a:rPr lang="en-US" sz="2000" b="1" dirty="0"/>
              <a:t>"By 2030, reduce the adverse per capita environmental impact of cities, including by paying special attention to air quality and municipal and other waste management.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chemeClr val="accent1"/>
                </a:solidFill>
              </a:rPr>
              <a:t>"Official Indicator 11.6.2: </a:t>
            </a:r>
            <a:r>
              <a:rPr lang="en-US" sz="2000" b="1" dirty="0"/>
              <a:t>Annual mean levels of fine particulate matter (e.g., $PM_{2.5}$ and $PM_{10}$) in cities (population-weighted).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chemeClr val="accent1"/>
                </a:solidFill>
              </a:rPr>
              <a:t>Custodial Agency: </a:t>
            </a:r>
            <a:r>
              <a:rPr lang="en-US" sz="2000" b="1" dirty="0"/>
              <a:t>World Health Organization (WHO)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348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33EB-7EAF-3F91-2320-4B5A69EC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7D59A-2C9B-66E1-6C10-84DB0D0FD6FA}"/>
              </a:ext>
            </a:extLst>
          </p:cNvPr>
          <p:cNvSpPr txBox="1"/>
          <p:nvPr/>
        </p:nvSpPr>
        <p:spPr>
          <a:xfrm>
            <a:off x="677334" y="1930400"/>
            <a:ext cx="859666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The Core Problem:</a:t>
            </a:r>
          </a:p>
          <a:p>
            <a:endParaRPr lang="en-US" sz="2800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Technical Intimidation: </a:t>
            </a:r>
            <a:r>
              <a:rPr lang="en-US" dirty="0"/>
              <a:t>Raw environmental metrics ($PM_{2.5}$, $PM_{10}$, $NO_2$) are constantly collected by sensory arrays but mean very little to the average citizen or municipal policymaker without context.</a:t>
            </a:r>
          </a:p>
          <a:p>
            <a:endParaRPr lang="en-US" dirty="0"/>
          </a:p>
          <a:p>
            <a:r>
              <a:rPr lang="en-US" sz="2000" dirty="0">
                <a:solidFill>
                  <a:schemeClr val="accent1"/>
                </a:solidFill>
              </a:rPr>
              <a:t>Lack of Predictive Foresight: </a:t>
            </a:r>
            <a:r>
              <a:rPr lang="en-US" dirty="0"/>
              <a:t>Standard monitoring tools report purely historical data. They tell communities what the air quality was, rather than forecasting what it will be based on changing meteorological inputs.</a:t>
            </a:r>
          </a:p>
          <a:p>
            <a:endParaRPr lang="en-US" dirty="0"/>
          </a:p>
          <a:p>
            <a:r>
              <a:rPr lang="en-US" sz="2000" dirty="0">
                <a:solidFill>
                  <a:schemeClr val="accent1"/>
                </a:solidFill>
              </a:rPr>
              <a:t>Static vs. Dynamic Systems: </a:t>
            </a:r>
            <a:r>
              <a:rPr lang="en-US" dirty="0"/>
              <a:t>Most solutions lack regional specificity, forcing broad city-wide assumptions instead of micro-regional, zone-specific guidance.</a:t>
            </a:r>
          </a:p>
        </p:txBody>
      </p:sp>
    </p:spTree>
    <p:extLst>
      <p:ext uri="{BB962C8B-B14F-4D97-AF65-F5344CB8AC3E}">
        <p14:creationId xmlns:p14="http://schemas.microsoft.com/office/powerpoint/2010/main" val="277215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52EE-9DAE-C756-FAAA-9E19D352F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Solution Overview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47FBD-6EC5-A4F4-8EE5-414F83713EA1}"/>
              </a:ext>
            </a:extLst>
          </p:cNvPr>
          <p:cNvSpPr txBox="1"/>
          <p:nvPr/>
        </p:nvSpPr>
        <p:spPr>
          <a:xfrm>
            <a:off x="677334" y="1668379"/>
            <a:ext cx="859666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Bridging Raw Climate Metrics with Predictive Machine Learning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In-Memory Data Pipeline (Input)</a:t>
            </a:r>
          </a:p>
          <a:p>
            <a:r>
              <a:rPr lang="en-US" dirty="0"/>
              <a:t>Extracts localized environmental repositories instantly from an embedded 5 MB deployment bundle (delhi_pollution.zip).Cleans, normalizes, and binds real-time parameters: $PM_{2.5}, PM_{10}, NO_2$, Temperature, and Humidity. Employs One-Hot Encoding to handle zone-specific variables dynamically.</a:t>
            </a:r>
          </a:p>
          <a:p>
            <a:r>
              <a:rPr lang="en-US" dirty="0">
                <a:solidFill>
                  <a:schemeClr val="accent1"/>
                </a:solidFill>
              </a:rPr>
              <a:t>2. High-Performance ML Core (Process)</a:t>
            </a:r>
          </a:p>
          <a:p>
            <a:r>
              <a:rPr lang="en-US" dirty="0"/>
              <a:t>Powered by an optimized, multi-threaded Scikit-Learn Random Forest </a:t>
            </a:r>
            <a:r>
              <a:rPr lang="en-US" dirty="0" err="1"/>
              <a:t>Regressor.Scaled</a:t>
            </a:r>
            <a:r>
              <a:rPr lang="en-US" dirty="0"/>
              <a:t> to 20 structural decision trees with a capped depth limit (</a:t>
            </a:r>
            <a:r>
              <a:rPr lang="en-US" dirty="0" err="1"/>
              <a:t>max_depth</a:t>
            </a:r>
            <a:r>
              <a:rPr lang="en-US" dirty="0"/>
              <a:t>=12) for lightning-fast execution in cloud </a:t>
            </a:r>
            <a:r>
              <a:rPr lang="en-US" dirty="0" err="1"/>
              <a:t>containers.Maps</a:t>
            </a:r>
            <a:r>
              <a:rPr lang="en-US" dirty="0"/>
              <a:t> nonlinear environmental feature correlations to predict localized AQI values instantly.</a:t>
            </a:r>
          </a:p>
          <a:p>
            <a:r>
              <a:rPr lang="en-US" dirty="0">
                <a:solidFill>
                  <a:schemeClr val="accent1"/>
                </a:solidFill>
              </a:rPr>
              <a:t>3. Actionable Intelligence Engine (Output)</a:t>
            </a:r>
          </a:p>
          <a:p>
            <a:r>
              <a:rPr lang="en-US" dirty="0"/>
              <a:t>Renders a highly polished, responsive interface using the </a:t>
            </a:r>
            <a:r>
              <a:rPr lang="en-US" dirty="0" err="1"/>
              <a:t>Streamlit</a:t>
            </a:r>
            <a:r>
              <a:rPr lang="en-US" dirty="0"/>
              <a:t> web </a:t>
            </a:r>
            <a:r>
              <a:rPr lang="en-US" dirty="0" err="1"/>
              <a:t>architecture.Dynamically</a:t>
            </a:r>
            <a:r>
              <a:rPr lang="en-US" dirty="0"/>
              <a:t> maps predicted index values to color-coded, real-time warning </a:t>
            </a:r>
            <a:r>
              <a:rPr lang="en-US" dirty="0" err="1"/>
              <a:t>cards.Automatically</a:t>
            </a:r>
            <a:r>
              <a:rPr lang="en-US" dirty="0"/>
              <a:t> generates action-oriented, UN SDG-aligned health advisories.</a:t>
            </a:r>
          </a:p>
        </p:txBody>
      </p:sp>
    </p:spTree>
    <p:extLst>
      <p:ext uri="{BB962C8B-B14F-4D97-AF65-F5344CB8AC3E}">
        <p14:creationId xmlns:p14="http://schemas.microsoft.com/office/powerpoint/2010/main" val="560171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2A0AF-3A12-2A82-6FA5-81F89660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Impact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57AEE-53EC-7F91-4CC6-8F75AACA1313}"/>
              </a:ext>
            </a:extLst>
          </p:cNvPr>
          <p:cNvSpPr txBox="1"/>
          <p:nvPr/>
        </p:nvSpPr>
        <p:spPr>
          <a:xfrm>
            <a:off x="737937" y="2101516"/>
            <a:ext cx="86306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01 / Direct SDG 11.6 Compliance: </a:t>
            </a:r>
            <a:r>
              <a:rPr lang="en-US" dirty="0"/>
              <a:t>Successfully bridges the implementation gap by providing localized, predictive air safety data instead of lagging, city-wide historical summaries.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accent1"/>
                </a:solidFill>
              </a:rPr>
              <a:t>02 / Proactive Public Health Alerts: </a:t>
            </a:r>
            <a:r>
              <a:rPr lang="en-US" dirty="0"/>
              <a:t>Translates raw variables ($PM_{2.5}, PM_{10}, NO_2$) into instant, color-coded medical and lifestyle advisories, protecting vulnerable demographics.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accent1"/>
                </a:solidFill>
              </a:rPr>
              <a:t>03 / High-Speed Cloud Deployment: </a:t>
            </a:r>
            <a:r>
              <a:rPr lang="en-US" dirty="0"/>
              <a:t>Proves that machine learning engines can be embedded into optimized, low-cost cloud containers running on negligible server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670835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522C-0207-0AB6-5611-BAA851B7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DFFB00-5722-FA9B-399D-57C8F989F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01" y="2066496"/>
            <a:ext cx="3997161" cy="329316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6B439E-2C98-126A-A6F7-FB27AA29D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425" y="1930400"/>
            <a:ext cx="7418895" cy="34879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21081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ECBCB-55A0-EB33-8194-6676C655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Prototype and Repository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4408B-DD2C-750A-5B58-A908100B8FAE}"/>
              </a:ext>
            </a:extLst>
          </p:cNvPr>
          <p:cNvSpPr txBox="1"/>
          <p:nvPr/>
        </p:nvSpPr>
        <p:spPr>
          <a:xfrm>
            <a:off x="677334" y="2028616"/>
            <a:ext cx="859666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>
                <a:solidFill>
                  <a:schemeClr val="accent1"/>
                </a:solidFill>
              </a:rPr>
              <a:t>Github</a:t>
            </a:r>
            <a:r>
              <a:rPr lang="en-IN" sz="3200" dirty="0">
                <a:solidFill>
                  <a:schemeClr val="accent1"/>
                </a:solidFill>
              </a:rPr>
              <a:t> Repo Link:- </a:t>
            </a:r>
            <a:r>
              <a:rPr lang="en-IN" sz="2400" dirty="0">
                <a:hlinkClick r:id="rId2"/>
              </a:rPr>
              <a:t>https://github.com/CoderforLife-AK/Ambient_Ncr.git</a:t>
            </a:r>
            <a:endParaRPr lang="en-IN" sz="2400" dirty="0"/>
          </a:p>
          <a:p>
            <a:endParaRPr lang="en-IN" sz="2400" dirty="0"/>
          </a:p>
          <a:p>
            <a:r>
              <a:rPr lang="en-IN" sz="3200" dirty="0">
                <a:solidFill>
                  <a:schemeClr val="accent1"/>
                </a:solidFill>
              </a:rPr>
              <a:t>Prototype Website :- </a:t>
            </a:r>
            <a:r>
              <a:rPr lang="en-IN" sz="2400" dirty="0">
                <a:hlinkClick r:id="rId3"/>
              </a:rPr>
              <a:t>https://ambientncr-mlproject.streamlit.app/</a:t>
            </a:r>
            <a:endParaRPr lang="en-IN" sz="24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85842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AEBF-882A-65B2-F3BB-5B0511816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3063"/>
          </a:xfrm>
        </p:spPr>
        <p:txBody>
          <a:bodyPr/>
          <a:lstStyle/>
          <a:p>
            <a:r>
              <a:rPr lang="en-IN" dirty="0"/>
              <a:t>Who benefits and How?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414F4-BEB9-453C-70C2-87F6A8CFE842}"/>
              </a:ext>
            </a:extLst>
          </p:cNvPr>
          <p:cNvSpPr txBox="1"/>
          <p:nvPr/>
        </p:nvSpPr>
        <p:spPr>
          <a:xfrm>
            <a:off x="677334" y="1471910"/>
            <a:ext cx="861461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200" dirty="0">
                <a:solidFill>
                  <a:schemeClr val="accent1"/>
                </a:solidFill>
              </a:rPr>
              <a:t>Everyday Citizens &amp; Vulnerable Demographics (Primary)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Proactive Protection: </a:t>
            </a:r>
            <a:r>
              <a:rPr lang="en-US" dirty="0"/>
              <a:t>High-risk groups (children, elderly, asthmatics) receive clear, localized early warnings instead of lagging city-wide data.</a:t>
            </a:r>
          </a:p>
          <a:p>
            <a:endParaRPr lang="en-US" dirty="0"/>
          </a:p>
          <a:p>
            <a:r>
              <a:rPr lang="en-US" sz="2000" dirty="0">
                <a:solidFill>
                  <a:schemeClr val="accent1"/>
                </a:solidFill>
              </a:rPr>
              <a:t>Actionable Advice: </a:t>
            </a:r>
            <a:r>
              <a:rPr lang="en-US" dirty="0"/>
              <a:t>Translates abstract data ($PM_{2.5}$, $PM_{10}$, $NO_2$) into immediate lifestyle guidelines (e.g., advising N95 masks or closing windows).</a:t>
            </a:r>
          </a:p>
          <a:p>
            <a:endParaRPr lang="en-US" dirty="0"/>
          </a:p>
          <a:p>
            <a:r>
              <a:rPr lang="en-US" sz="2000" dirty="0">
                <a:solidFill>
                  <a:schemeClr val="accent1"/>
                </a:solidFill>
              </a:rPr>
              <a:t>Zero Technical Barrier: </a:t>
            </a:r>
            <a:r>
              <a:rPr lang="en-US" dirty="0"/>
              <a:t>Anyone can get an instant, easy-to-understand health status without reading complex scientific charts.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2. Municipal Planners &amp; Public Health Authorities (Secondary)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Localized Insight: </a:t>
            </a:r>
            <a:r>
              <a:rPr lang="en-US" dirty="0"/>
              <a:t>Shifts focus from broad, regional assumptions to zone-specific, micro-regional air variations.</a:t>
            </a:r>
          </a:p>
          <a:p>
            <a:endParaRPr lang="en-US" dirty="0"/>
          </a:p>
          <a:p>
            <a:r>
              <a:rPr lang="en-US" sz="2000" dirty="0">
                <a:solidFill>
                  <a:schemeClr val="accent1"/>
                </a:solidFill>
              </a:rPr>
              <a:t>Data-Driven Choices: </a:t>
            </a:r>
            <a:r>
              <a:rPr lang="en-US" dirty="0"/>
              <a:t>Gives civic teams quick, predictive insights to guide localized smog control or traffic measures.</a:t>
            </a:r>
          </a:p>
          <a:p>
            <a:endParaRPr lang="en-US" dirty="0"/>
          </a:p>
          <a:p>
            <a:r>
              <a:rPr lang="en-US" sz="2000" dirty="0">
                <a:solidFill>
                  <a:schemeClr val="accent1"/>
                </a:solidFill>
              </a:rPr>
              <a:t>Low-Cost Infrastructure: </a:t>
            </a:r>
            <a:r>
              <a:rPr lang="en-US" dirty="0"/>
              <a:t>Offers a highly optimized, open-source prototype that runs efficiently on lightweight cloud servers with zero data storage costs.</a:t>
            </a:r>
          </a:p>
        </p:txBody>
      </p:sp>
    </p:spTree>
    <p:extLst>
      <p:ext uri="{BB962C8B-B14F-4D97-AF65-F5344CB8AC3E}">
        <p14:creationId xmlns:p14="http://schemas.microsoft.com/office/powerpoint/2010/main" val="258486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838FA5-6AA6-37B8-0F7A-7505583ACB0B}"/>
              </a:ext>
            </a:extLst>
          </p:cNvPr>
          <p:cNvSpPr txBox="1"/>
          <p:nvPr/>
        </p:nvSpPr>
        <p:spPr>
          <a:xfrm>
            <a:off x="3591612" y="2620652"/>
            <a:ext cx="7324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accent1"/>
                </a:solidFill>
              </a:rPr>
              <a:t>Thank You</a:t>
            </a:r>
            <a:endParaRPr lang="en-US" sz="7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7223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66</TotalTime>
  <Words>693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AI-Powered Regional Air Quality Tracker &amp; Forecasting Assistant</vt:lpstr>
      <vt:lpstr>SDG Alignment </vt:lpstr>
      <vt:lpstr>Problem statement</vt:lpstr>
      <vt:lpstr>AI Solution Overview</vt:lpstr>
      <vt:lpstr>Expected Impact</vt:lpstr>
      <vt:lpstr>Screenshots</vt:lpstr>
      <vt:lpstr>Prototype and Repository</vt:lpstr>
      <vt:lpstr>Who benefits and How?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Kumar</dc:creator>
  <cp:lastModifiedBy>Amit Kumar</cp:lastModifiedBy>
  <cp:revision>1</cp:revision>
  <dcterms:created xsi:type="dcterms:W3CDTF">2026-06-21T14:02:34Z</dcterms:created>
  <dcterms:modified xsi:type="dcterms:W3CDTF">2026-06-21T15:08:52Z</dcterms:modified>
</cp:coreProperties>
</file>